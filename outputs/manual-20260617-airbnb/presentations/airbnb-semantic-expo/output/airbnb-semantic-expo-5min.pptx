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20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48056"/>
            <a:ext cx="82296" cy="82296"/>
          </a:xfrm>
          <a:prstGeom prst="ellipse">
            <a:avLst/>
          </a:prstGeom>
          <a:solidFill>
            <a:srgbClr val="E8B94F"/>
          </a:solidFill>
          <a:ln w="12700">
            <a:solidFill>
              <a:srgbClr val="E8B94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749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8E6D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SOLUCION FINAL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841248"/>
            <a:ext cx="8046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9E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Buscador semantico de alojamientos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30352" y="1874520"/>
            <a:ext cx="6080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3DED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 aplicacion convierte una frase natural en filtros, consulta una ontologia OWL/RDF y ordena propiedades por relevancia semantica.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406640" y="822960"/>
            <a:ext cx="3566160" cy="4206240"/>
          </a:xfrm>
          <a:prstGeom prst="rect">
            <a:avLst/>
          </a:prstGeom>
          <a:solidFill>
            <a:srgbClr val="1B2D27"/>
          </a:solidFill>
          <a:ln w="12700">
            <a:solidFill>
              <a:srgbClr val="42665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818120" y="1234440"/>
            <a:ext cx="2697480" cy="384048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27848" y="1335024"/>
            <a:ext cx="2478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Airbnb.owl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818120" y="1984248"/>
            <a:ext cx="2697480" cy="384048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27848" y="2084832"/>
            <a:ext cx="2478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SPARQL + Fuseki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818120" y="2734056"/>
            <a:ext cx="2697480" cy="384048"/>
          </a:xfrm>
          <a:prstGeom prst="rect">
            <a:avLst/>
          </a:prstGeom>
          <a:solidFill>
            <a:srgbClr val="C65F3F"/>
          </a:solidFill>
          <a:ln w="12700">
            <a:solidFill>
              <a:srgbClr val="C65F3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27848" y="2834640"/>
            <a:ext cx="2478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818120" y="3483864"/>
            <a:ext cx="2697480" cy="384048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27848" y="3584448"/>
            <a:ext cx="24780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Scoring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30352" y="5285232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9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buscamos coincidencias sueltas; buscamos relaciones con significado.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02920" y="64282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8A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Airbnb Semantic · 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48056"/>
            <a:ext cx="82296" cy="82296"/>
          </a:xfrm>
          <a:prstGeom prst="ellipse">
            <a:avLst/>
          </a:prstGeom>
          <a:solidFill>
            <a:srgbClr val="C65F3F"/>
          </a:solidFill>
          <a:ln w="12700">
            <a:solidFill>
              <a:srgbClr val="C65F3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749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F6F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NUESTRA ONTOLOGIA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046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120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Airbnb.owl modela propiedades como una red semantica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30352" y="1719072"/>
            <a:ext cx="7040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9443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 clase Propiedad es el nucleo: conecta tipo de alojamiento, zona, amenidades, perfiles y politicas.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37760" y="2423160"/>
            <a:ext cx="2011680" cy="685800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30368" y="265176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Propiedad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2148840"/>
            <a:ext cx="2423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249424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20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Apartamento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2960" y="2807208"/>
            <a:ext cx="2423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907792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20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3465576"/>
            <a:ext cx="2423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566160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20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Villa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" y="4123944"/>
            <a:ext cx="24231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422452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20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Habitacion privada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086600" y="2121408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5E"/>
                </a:solidFill>
              </a:rPr>
              <a:t>-&gt;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543800" y="2011680"/>
            <a:ext cx="2743200" cy="457200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80960" y="213969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ubicadaEn  ZonaGeografica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086600" y="273405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5E"/>
                </a:solidFill>
              </a:rPr>
              <a:t>-&gt;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543800" y="2624328"/>
            <a:ext cx="2743200" cy="457200"/>
          </a:xfrm>
          <a:prstGeom prst="rect">
            <a:avLst/>
          </a:prstGeom>
          <a:solidFill>
            <a:srgbClr val="C65F3F"/>
          </a:solidFill>
          <a:ln w="12700">
            <a:solidFill>
              <a:srgbClr val="C65F3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680960" y="2752344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tieneAmenidad  Amenidad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086600" y="3346704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5E"/>
                </a:solidFill>
              </a:rPr>
              <a:t>-&gt;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543800" y="3236976"/>
            <a:ext cx="2743200" cy="457200"/>
          </a:xfrm>
          <a:prstGeom prst="rect">
            <a:avLst/>
          </a:prstGeom>
          <a:solidFill>
            <a:srgbClr val="E8B94F"/>
          </a:solidFill>
          <a:ln w="12700">
            <a:solidFill>
              <a:srgbClr val="E8B94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80960" y="336499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120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compatibleCon  PerfilHuesped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086600" y="3959352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F5E"/>
                </a:solidFill>
              </a:rPr>
              <a:t>-&gt;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7543800" y="3849624"/>
            <a:ext cx="2743200" cy="457200"/>
          </a:xfrm>
          <a:prstGeom prst="rect">
            <a:avLst/>
          </a:prstGeom>
          <a:solidFill>
            <a:srgbClr val="78A88D"/>
          </a:solidFill>
          <a:ln w="12700">
            <a:solidFill>
              <a:srgbClr val="78A88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80960" y="397764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tienePolitica  Politica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2960" y="5596128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9443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Ejemplo oral: una casa en Achumani puede tener Wifi, Cocina y Parking, y ser compatible con familias.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02920" y="64282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B7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Airbnb Semantic · 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48056"/>
            <a:ext cx="82296" cy="82296"/>
          </a:xfrm>
          <a:prstGeom prst="ellipse">
            <a:avLst/>
          </a:prstGeom>
          <a:solidFill>
            <a:srgbClr val="E8B94F"/>
          </a:solidFill>
          <a:ln w="12700">
            <a:solidFill>
              <a:srgbClr val="E8B94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749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8E6D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DATOS + ENRIQUECIMIENTO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8046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9E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base local se conecta con vocabulario semantico externo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30352" y="1627632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3DED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DBpedia no reemplaza nuestros datos: agrega equivalencias para que los conceptos locales tengan contexto reconocido.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13232" y="2423160"/>
            <a:ext cx="1417320" cy="868680"/>
          </a:xfrm>
          <a:prstGeom prst="rect">
            <a:avLst/>
          </a:prstGeom>
          <a:solidFill>
            <a:srgbClr val="1F342E"/>
          </a:solidFill>
          <a:ln w="12700">
            <a:solidFill>
              <a:srgbClr val="4266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0392" y="254203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8B9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14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50392" y="29443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8E6D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clases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404872" y="2423160"/>
            <a:ext cx="1417320" cy="868680"/>
          </a:xfrm>
          <a:prstGeom prst="rect">
            <a:avLst/>
          </a:prstGeom>
          <a:solidFill>
            <a:srgbClr val="1F342E"/>
          </a:solidFill>
          <a:ln w="12700">
            <a:solidFill>
              <a:srgbClr val="4266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254203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8B9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42032" y="29443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8E6D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individuos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96512" y="2423160"/>
            <a:ext cx="1417320" cy="868680"/>
          </a:xfrm>
          <a:prstGeom prst="rect">
            <a:avLst/>
          </a:prstGeom>
          <a:solidFill>
            <a:srgbClr val="1F342E"/>
          </a:solidFill>
          <a:ln w="12700">
            <a:solidFill>
              <a:srgbClr val="4266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33672" y="254203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8B9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233672" y="2944368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8E6D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alojamientos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3232" y="3502152"/>
            <a:ext cx="1417320" cy="868680"/>
          </a:xfrm>
          <a:prstGeom prst="rect">
            <a:avLst/>
          </a:prstGeom>
          <a:solidFill>
            <a:srgbClr val="1F342E"/>
          </a:solidFill>
          <a:ln w="12700">
            <a:solidFill>
              <a:srgbClr val="4266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362102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8B9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749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50392" y="40233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8E6D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relaciones de amenidades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404872" y="3502152"/>
            <a:ext cx="1417320" cy="868680"/>
          </a:xfrm>
          <a:prstGeom prst="rect">
            <a:avLst/>
          </a:prstGeom>
          <a:solidFill>
            <a:srgbClr val="1F342E"/>
          </a:solidFill>
          <a:ln w="12700">
            <a:solidFill>
              <a:srgbClr val="4266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42032" y="362102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8B9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180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2542032" y="40233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8E6D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relaciones con perfiles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096512" y="3502152"/>
            <a:ext cx="1417320" cy="868680"/>
          </a:xfrm>
          <a:prstGeom prst="rect">
            <a:avLst/>
          </a:prstGeom>
          <a:solidFill>
            <a:srgbClr val="1F342E"/>
          </a:solidFill>
          <a:ln w="12700">
            <a:solidFill>
              <a:srgbClr val="42665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33672" y="362102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8B9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173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233672" y="402336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D8E6D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relaciones de ubicacion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492240" y="224028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9E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Enlaces semanticos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6492240" y="2697480"/>
            <a:ext cx="4206240" cy="384048"/>
          </a:xfrm>
          <a:prstGeom prst="rect">
            <a:avLst/>
          </a:prstGeom>
          <a:solidFill>
            <a:srgbClr val="C65F3F"/>
          </a:solidFill>
          <a:ln w="12700">
            <a:solidFill>
              <a:srgbClr val="C65F3F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01968" y="2798064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Casa -&gt; DBpedia House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92240" y="3154680"/>
            <a:ext cx="4206240" cy="384048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601968" y="3255264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Villa -&gt; DBpedia Villa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92240" y="3611880"/>
            <a:ext cx="4206240" cy="384048"/>
          </a:xfrm>
          <a:prstGeom prst="rect">
            <a:avLst/>
          </a:prstGeom>
          <a:solidFill>
            <a:srgbClr val="C65F3F"/>
          </a:solidFill>
          <a:ln w="12700">
            <a:solidFill>
              <a:srgbClr val="C65F3F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01968" y="3712464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Wifi -&gt; DBpedia Wi-Fi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492240" y="4069080"/>
            <a:ext cx="4206240" cy="384048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01968" y="4169664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Piscina -&gt; DBpedia Swimming pool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492240" y="4526280"/>
            <a:ext cx="4206240" cy="384048"/>
          </a:xfrm>
          <a:prstGeom prst="rect">
            <a:avLst/>
          </a:prstGeom>
          <a:solidFill>
            <a:srgbClr val="C65F3F"/>
          </a:solidFill>
          <a:ln w="12700">
            <a:solidFill>
              <a:srgbClr val="C65F3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01968" y="4626864"/>
            <a:ext cx="3986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 Paz -&gt; DBpedia La Paz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02920" y="64282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8A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Airbnb Semantic · 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48056"/>
            <a:ext cx="82296" cy="82296"/>
          </a:xfrm>
          <a:prstGeom prst="ellipse">
            <a:avLst/>
          </a:prstGeom>
          <a:solidFill>
            <a:srgbClr val="C65F3F"/>
          </a:solidFill>
          <a:ln w="12700">
            <a:solidFill>
              <a:srgbClr val="C65F3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749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F6F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TECNOLOGIAS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046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120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Cada capa cumple una funcion dentro del flujo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30352" y="16276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9443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 procesamiento de lenguaje natural es un solo bloque: un modelo de lenguaje en linea interpreta la consulta y devuelve filtros.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05840" y="2423160"/>
            <a:ext cx="9235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53288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20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Aplicacion web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657600" y="2532888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25D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Next.js · React · Tailwind CSS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005840" y="2953512"/>
            <a:ext cx="9235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4440" y="3063240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20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Ontologia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0" y="3063240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25D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OWL/RDF · Airbnb.owl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1005840" y="3483864"/>
            <a:ext cx="9235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3593592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20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Servidor semantico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657600" y="3593592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25D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Apache Jena Fuseki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1005840" y="4014216"/>
            <a:ext cx="9235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4123944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20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Consulta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57600" y="4123944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25D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SPARQL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05840" y="4544568"/>
            <a:ext cx="9235440" cy="384048"/>
          </a:xfrm>
          <a:prstGeom prst="rect">
            <a:avLst/>
          </a:prstGeom>
          <a:solidFill>
            <a:srgbClr val="11201B"/>
          </a:solidFill>
          <a:ln w="12700">
            <a:solidFill>
              <a:srgbClr val="11201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4654296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657600" y="4654296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D8E6D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Modelo de lenguaje en linea -&gt; filtros estructurados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1005840" y="5074920"/>
            <a:ext cx="9235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34440" y="5184648"/>
            <a:ext cx="2011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20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Ejecucion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0" y="5184648"/>
            <a:ext cx="6217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9625D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Bun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005840" y="5715000"/>
            <a:ext cx="8778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C65F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PLN no trae alojamientos; traduce intencion humana a filtros que la API puede usar.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02920" y="64282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B7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Airbnb Semantic · 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48056"/>
            <a:ext cx="82296" cy="82296"/>
          </a:xfrm>
          <a:prstGeom prst="ellipse">
            <a:avLst/>
          </a:prstGeom>
          <a:solidFill>
            <a:srgbClr val="C65F3F"/>
          </a:solidFill>
          <a:ln w="12700">
            <a:solidFill>
              <a:srgbClr val="C65F3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749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F6F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FUENTES DE DATOS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046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120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Una base controlada y fuentes federadas con roles separados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30352" y="1627632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9443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Separar fuentes evita confundir almacenamiento local, enriquecimiento y busqueda online.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331720"/>
            <a:ext cx="10332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2523744"/>
            <a:ext cx="164592" cy="164592"/>
          </a:xfrm>
          <a:prstGeom prst="ellipse">
            <a:avLst/>
          </a:prstGeom>
          <a:solidFill>
            <a:srgbClr val="2F6F5E"/>
          </a:solidFill>
          <a:ln w="12700">
            <a:solidFill>
              <a:srgbClr val="2F6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8448" y="246888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20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Airbnb.owl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60520" y="247802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6F5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Fuente local principal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478024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D484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Alojamientos, clases, individuos, relaciones, precios y perfiles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31520" y="3081528"/>
            <a:ext cx="10332720" cy="566928"/>
          </a:xfrm>
          <a:prstGeom prst="rect">
            <a:avLst/>
          </a:prstGeom>
          <a:solidFill>
            <a:srgbClr val="EFE6D8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3273552"/>
            <a:ext cx="164592" cy="164592"/>
          </a:xfrm>
          <a:prstGeom prst="ellipse">
            <a:avLst/>
          </a:prstGeom>
          <a:solidFill>
            <a:srgbClr val="C65F3F"/>
          </a:solidFill>
          <a:ln w="12700">
            <a:solidFill>
              <a:srgbClr val="C65F3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98448" y="321868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20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DBpedia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60520" y="322783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6F5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Enriquecimiento + online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0" y="3227832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D484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Equivalencias semanticas y resultados externos en vivo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831336"/>
            <a:ext cx="103327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0120" y="4023360"/>
            <a:ext cx="164592" cy="164592"/>
          </a:xfrm>
          <a:prstGeom prst="ellipse">
            <a:avLst/>
          </a:prstGeom>
          <a:solidFill>
            <a:srgbClr val="6E9DB7"/>
          </a:solidFill>
          <a:ln w="12700">
            <a:solidFill>
              <a:srgbClr val="6E9D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98448" y="396849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20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Wikidata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60520" y="397764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6F5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Online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3977640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D484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Entidades de alojamientos y contexto relacionado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20" y="4581144"/>
            <a:ext cx="10332720" cy="566928"/>
          </a:xfrm>
          <a:prstGeom prst="rect">
            <a:avLst/>
          </a:prstGeom>
          <a:solidFill>
            <a:srgbClr val="EFE6D8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60120" y="4773168"/>
            <a:ext cx="164592" cy="164592"/>
          </a:xfrm>
          <a:prstGeom prst="ellipse">
            <a:avLst/>
          </a:prstGeom>
          <a:solidFill>
            <a:srgbClr val="E8B94F"/>
          </a:solidFill>
          <a:ln w="12700">
            <a:solidFill>
              <a:srgbClr val="E8B94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98448" y="4718304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120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OpenStreetMap / LinkedGeoData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60520" y="47274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F6F5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Online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0" y="4727448"/>
            <a:ext cx="4297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3D4841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Hoteles, direcciones, contacto, horarios y amenidades disponibles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02920" y="64282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B7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Airbnb Semantic · 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62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48056"/>
            <a:ext cx="82296" cy="82296"/>
          </a:xfrm>
          <a:prstGeom prst="ellipse">
            <a:avLst/>
          </a:prstGeom>
          <a:solidFill>
            <a:srgbClr val="E8B94F"/>
          </a:solidFill>
          <a:ln w="12700">
            <a:solidFill>
              <a:srgbClr val="E8B94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749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D8E6D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FLUJO DE BUSQUEDA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86384"/>
            <a:ext cx="8046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600" b="1" dirty="0">
                <a:solidFill>
                  <a:srgbClr val="FFF9E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 frase natural a resultados ordenados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640080" y="1664208"/>
            <a:ext cx="5029200" cy="868680"/>
          </a:xfrm>
          <a:prstGeom prst="rect">
            <a:avLst/>
          </a:prstGeom>
          <a:solidFill>
            <a:srgbClr val="FFF9EF"/>
          </a:solidFill>
          <a:ln w="12700">
            <a:solidFill>
              <a:srgbClr val="FFF9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984248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120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"villa para familia en Santa Cruz con piscina"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0" y="1664208"/>
            <a:ext cx="4160520" cy="1143000"/>
          </a:xfrm>
          <a:prstGeom prst="rect">
            <a:avLst/>
          </a:prstGeom>
          <a:solidFill>
            <a:srgbClr val="1B2D27"/>
          </a:solidFill>
          <a:ln w="12700">
            <a:solidFill>
              <a:srgbClr val="42665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1847088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B9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Salida estructurada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629400" y="2057400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FFF9E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tipo=Villa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9E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perfil=Familia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9E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ciudad=Santa Cruz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FF9EF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amenidad=Piscina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401568"/>
            <a:ext cx="1143000" cy="566928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602736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Frontend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1792224" y="360273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A88D"/>
                </a:solidFill>
              </a:rPr>
              <a:t>-&gt;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157984" y="3913632"/>
            <a:ext cx="1143000" cy="566928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49424" y="4114800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/api/buscar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3401568" y="4114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A88D"/>
                </a:solidFill>
              </a:rPr>
              <a:t>-&gt;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767328" y="3401568"/>
            <a:ext cx="1143000" cy="566928"/>
          </a:xfrm>
          <a:prstGeom prst="rect">
            <a:avLst/>
          </a:prstGeom>
          <a:solidFill>
            <a:srgbClr val="C65F3F"/>
          </a:solidFill>
          <a:ln w="12700">
            <a:solidFill>
              <a:srgbClr val="C65F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58768" y="3602736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PLN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5010912" y="360273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A88D"/>
                </a:solidFill>
              </a:rPr>
              <a:t>-&gt;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376672" y="3913632"/>
            <a:ext cx="1143000" cy="566928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68112" y="4114800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Filtros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6620256" y="4114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A88D"/>
                </a:solidFill>
              </a:rPr>
              <a:t>-&gt;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986016" y="3401568"/>
            <a:ext cx="1143000" cy="566928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77456" y="3602736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SPARQL + Fuseki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8229600" y="3602736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A88D"/>
                </a:solidFill>
              </a:rPr>
              <a:t>-&gt;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95360" y="3913632"/>
            <a:ext cx="1143000" cy="566928"/>
          </a:xfrm>
          <a:prstGeom prst="rect">
            <a:avLst/>
          </a:prstGeom>
          <a:solidFill>
            <a:srgbClr val="E8B94F"/>
          </a:solidFill>
          <a:ln w="12700">
            <a:solidFill>
              <a:srgbClr val="E8B94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86800" y="4114800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20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Scoring</a:t>
            </a:r>
            <a:endParaRPr lang="en-US" sz="920" dirty="0"/>
          </a:p>
        </p:txBody>
      </p:sp>
      <p:sp>
        <p:nvSpPr>
          <p:cNvPr id="27" name="Text 25"/>
          <p:cNvSpPr/>
          <p:nvPr/>
        </p:nvSpPr>
        <p:spPr>
          <a:xfrm>
            <a:off x="9838944" y="4114800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8A88D"/>
                </a:solidFill>
              </a:rPr>
              <a:t>-&gt;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0204704" y="3401568"/>
            <a:ext cx="1143000" cy="566928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296144" y="3602736"/>
            <a:ext cx="960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Cards</a:t>
            </a:r>
            <a:endParaRPr lang="en-US" sz="920" dirty="0"/>
          </a:p>
        </p:txBody>
      </p:sp>
      <p:sp>
        <p:nvSpPr>
          <p:cNvPr id="30" name="Text 28"/>
          <p:cNvSpPr/>
          <p:nvPr/>
        </p:nvSpPr>
        <p:spPr>
          <a:xfrm>
            <a:off x="731520" y="553212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D3DED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Primero se extrae intencion; luego se consulta la ontologia; al final el scoring ordena por coincidencia semantica.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02920" y="64282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AB8A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Airbnb Semantic · 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1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2064" y="448056"/>
            <a:ext cx="82296" cy="82296"/>
          </a:xfrm>
          <a:prstGeom prst="ellipse">
            <a:avLst/>
          </a:prstGeom>
          <a:solidFill>
            <a:srgbClr val="C65F3F"/>
          </a:solidFill>
          <a:ln w="12700">
            <a:solidFill>
              <a:srgbClr val="C65F3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4944" y="374904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F6F5E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RELEVANCIA Y MODOS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768096"/>
            <a:ext cx="80467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1120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scoring le da peso a las coincidencias semanticas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530352" y="1627632"/>
            <a:ext cx="8595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39443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 orden de resultados no sale de palabras sueltas: combina filtros fuertes, perfil, amenidades, zona y coincidencias de texto.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1201B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Tipo de propiedad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2880360" y="2359152"/>
            <a:ext cx="2011680" cy="109728"/>
          </a:xfrm>
          <a:prstGeom prst="rect">
            <a:avLst/>
          </a:prstGeom>
          <a:solidFill>
            <a:srgbClr val="2F6F5E"/>
          </a:solidFill>
          <a:ln w="12700">
            <a:solidFill>
              <a:srgbClr val="2F6F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74920" y="232257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20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+4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2715768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1201B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Zona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2880360" y="2743200"/>
            <a:ext cx="1508760" cy="109728"/>
          </a:xfrm>
          <a:prstGeom prst="rect">
            <a:avLst/>
          </a:prstGeom>
          <a:solidFill>
            <a:srgbClr val="6E9DB7"/>
          </a:solidFill>
          <a:ln w="12700">
            <a:solidFill>
              <a:srgbClr val="6E9D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74920" y="2706624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20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3099816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1201B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Amenidad especifica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2880360" y="3127248"/>
            <a:ext cx="1508760" cy="109728"/>
          </a:xfrm>
          <a:prstGeom prst="rect">
            <a:avLst/>
          </a:prstGeom>
          <a:solidFill>
            <a:srgbClr val="C65F3F"/>
          </a:solidFill>
          <a:ln w="12700">
            <a:solidFill>
              <a:srgbClr val="C65F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74920" y="3090672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20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77240" y="3483864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1201B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Perfil de huesped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2880360" y="3511296"/>
            <a:ext cx="1005840" cy="109728"/>
          </a:xfrm>
          <a:prstGeom prst="rect">
            <a:avLst/>
          </a:prstGeom>
          <a:solidFill>
            <a:srgbClr val="E8B94F"/>
          </a:solidFill>
          <a:ln w="12700">
            <a:solidFill>
              <a:srgbClr val="E8B94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3474720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20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77240" y="3867912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1201B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Buena calificacion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2880360" y="3895344"/>
            <a:ext cx="1005840" cy="109728"/>
          </a:xfrm>
          <a:prstGeom prst="rect">
            <a:avLst/>
          </a:prstGeom>
          <a:solidFill>
            <a:srgbClr val="11201B"/>
          </a:solidFill>
          <a:ln w="12700">
            <a:solidFill>
              <a:srgbClr val="11201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3858768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20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7240" y="4251960"/>
            <a:ext cx="2103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1201B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Palabra clave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2880360" y="4279392"/>
            <a:ext cx="502920" cy="109728"/>
          </a:xfrm>
          <a:prstGeom prst="rect">
            <a:avLst/>
          </a:prstGeom>
          <a:solidFill>
            <a:srgbClr val="78A88D"/>
          </a:solidFill>
          <a:ln w="12700">
            <a:solidFill>
              <a:srgbClr val="78A88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74920" y="4242816"/>
            <a:ext cx="320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20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+1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0" y="2240280"/>
            <a:ext cx="1874520" cy="2331720"/>
          </a:xfrm>
          <a:prstGeom prst="rect">
            <a:avLst/>
          </a:prstGeom>
          <a:solidFill>
            <a:srgbClr val="11201B"/>
          </a:solidFill>
          <a:ln w="12700">
            <a:solidFill>
              <a:srgbClr val="11201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01968" y="25146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9E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Offline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601968" y="30632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E8B94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Airbnb.owl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E8B94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+ Fuseki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E8B94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+ SPARQL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601968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D8E6DC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mas estable y controlado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549640" y="2240280"/>
            <a:ext cx="18745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ED7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50808" y="25146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201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Online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8750808" y="30632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F6F5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DBpedia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F6F5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Wikidata</a:t>
            </a:r>
            <a:endParaRPr lang="en-US" sz="1350" dirty="0"/>
          </a:p>
          <a:p>
            <a:pPr algn="ctr" indent="0" marL="0">
              <a:buNone/>
            </a:pPr>
            <a:r>
              <a:rPr lang="en-US" sz="1350" b="1" dirty="0">
                <a:solidFill>
                  <a:srgbClr val="2F6F5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OpenStreetMap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8750808" y="3886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59625D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fuentes externas en vivo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777240" y="557784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C65F3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Cierre: la relevancia sale de combinar ontologia, PLN, SPARQL y pesos de coincidencia.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02920" y="6428232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07B7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Airbnb Semantic · 07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ontserra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ans Pr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Airbnb Semantic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Airbnb Semantic Expo 5min</dc:title>
  <dc:subject>Exposicion de 5 minutos</dc:subject>
  <dc:creator>Airbnb Semantic</dc:creator>
  <cp:lastModifiedBy>Airbnb Semantic</cp:lastModifiedBy>
  <cp:revision>1</cp:revision>
  <dcterms:created xsi:type="dcterms:W3CDTF">2026-06-17T14:44:59Z</dcterms:created>
  <dcterms:modified xsi:type="dcterms:W3CDTF">2026-06-17T14:44:59Z</dcterms:modified>
</cp:coreProperties>
</file>