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image" Target="../media/image-1-10.png"/><Relationship Id="rId11" Type="http://schemas.openxmlformats.org/officeDocument/2006/relationships/image" Target="../media/image-1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image" Target="../media/image-2-15.png"/><Relationship Id="rId16" Type="http://schemas.openxmlformats.org/officeDocument/2006/relationships/image" Target="../media/image-2-16.svg"/><Relationship Id="rId17" Type="http://schemas.openxmlformats.org/officeDocument/2006/relationships/image" Target="../media/image-2-17.png"/><Relationship Id="rId18" Type="http://schemas.openxmlformats.org/officeDocument/2006/relationships/image" Target="../media/image-2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pic>
        <p:nvPicPr>
          <p:cNvPr id="4" name="Image 0" descr="C:\Users\markv\OneDrive\Escritorio\airbnb\airbnb-semantic\public\listings\vil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64008"/>
            <a:ext cx="4739335" cy="6793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52360" y="64008"/>
            <a:ext cx="4739335" cy="6793992"/>
          </a:xfrm>
          <a:prstGeom prst="rect">
            <a:avLst/>
          </a:prstGeom>
          <a:solidFill>
            <a:srgbClr val="0B1F2A">
              <a:alpha val="6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7452360" y="64008"/>
            <a:ext cx="1280160" cy="6793992"/>
          </a:xfrm>
          <a:prstGeom prst="rect">
            <a:avLst/>
          </a:prstGeom>
          <a:solidFill>
            <a:srgbClr val="0B1F2A">
              <a:alpha val="9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229600" y="2651760"/>
            <a:ext cx="1463040" cy="1371600"/>
          </a:xfrm>
          <a:prstGeom prst="line">
            <a:avLst/>
          </a:prstGeom>
          <a:noFill/>
          <a:ln w="15875">
            <a:solidFill>
              <a:srgbClr val="3DD9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9692640" y="2926080"/>
            <a:ext cx="1371600" cy="1097280"/>
          </a:xfrm>
          <a:prstGeom prst="line">
            <a:avLst/>
          </a:prstGeom>
          <a:noFill/>
          <a:ln w="15875">
            <a:solidFill>
              <a:srgbClr val="3DD9B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92640" y="4023360"/>
            <a:ext cx="1554480" cy="914400"/>
          </a:xfrm>
          <a:prstGeom prst="line">
            <a:avLst/>
          </a:prstGeom>
          <a:noFill/>
          <a:ln w="15875">
            <a:solidFill>
              <a:srgbClr val="3DD9B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H="1">
            <a:off x="8503920" y="4023360"/>
            <a:ext cx="1188720" cy="1280160"/>
          </a:xfrm>
          <a:prstGeom prst="line">
            <a:avLst/>
          </a:prstGeom>
          <a:noFill/>
          <a:ln w="15875">
            <a:solidFill>
              <a:srgbClr val="3DD9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8549" y="2470709"/>
            <a:ext cx="362102" cy="362102"/>
          </a:xfrm>
          <a:prstGeom prst="ellipse">
            <a:avLst/>
          </a:prstGeom>
          <a:solidFill>
            <a:srgbClr val="F2C14E">
              <a:alpha val="18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8129016" y="2551176"/>
            <a:ext cx="201168" cy="201168"/>
          </a:xfrm>
          <a:prstGeom prst="ellipse">
            <a:avLst/>
          </a:prstGeom>
          <a:solidFill>
            <a:srgbClr val="F2C14E"/>
          </a:solidFill>
          <a:ln w="22225">
            <a:solidFill>
              <a:srgbClr val="F2C14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883189" y="2745029"/>
            <a:ext cx="362102" cy="362102"/>
          </a:xfrm>
          <a:prstGeom prst="ellipse">
            <a:avLst/>
          </a:prstGeom>
          <a:solidFill>
            <a:srgbClr val="6FB3D6">
              <a:alpha val="18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963656" y="2825496"/>
            <a:ext cx="201168" cy="201168"/>
          </a:xfrm>
          <a:prstGeom prst="ellipse">
            <a:avLst/>
          </a:prstGeom>
          <a:solidFill>
            <a:srgbClr val="6FB3D6"/>
          </a:solidFill>
          <a:ln w="22225">
            <a:solidFill>
              <a:srgbClr val="6FB3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066069" y="4756709"/>
            <a:ext cx="362102" cy="362102"/>
          </a:xfrm>
          <a:prstGeom prst="ellipse">
            <a:avLst/>
          </a:prstGeom>
          <a:solidFill>
            <a:srgbClr val="FF6B4A">
              <a:alpha val="18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1146536" y="4837176"/>
            <a:ext cx="201168" cy="201168"/>
          </a:xfrm>
          <a:prstGeom prst="ellipse">
            <a:avLst/>
          </a:prstGeom>
          <a:solidFill>
            <a:srgbClr val="FF6B4A"/>
          </a:solidFill>
          <a:ln w="22225">
            <a:solidFill>
              <a:srgbClr val="FF6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2869" y="5122469"/>
            <a:ext cx="362102" cy="362102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403336" y="5202936"/>
            <a:ext cx="201168" cy="201168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30538" y="3661258"/>
            <a:ext cx="724205" cy="724205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9491472" y="3822192"/>
            <a:ext cx="402336" cy="402336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3768" y="390448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8580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 · SEMANTIC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85800" y="1828800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Buscador
</a:t>
            </a:r>
            <a:pPr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semantico </a:t>
            </a:r>
            <a:pPr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</a:t>
            </a:r>
            <a:endParaRPr lang="en-US" sz="52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alojamientos</a:t>
            </a:r>
            <a:endParaRPr lang="en-US" sz="5200" dirty="0"/>
          </a:p>
        </p:txBody>
      </p:sp>
      <p:sp>
        <p:nvSpPr>
          <p:cNvPr id="24" name="Text 20"/>
          <p:cNvSpPr/>
          <p:nvPr/>
        </p:nvSpPr>
        <p:spPr>
          <a:xfrm>
            <a:off x="685800" y="43434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Convierte una frase natural en filtros, consulta una ontologia OWL/RDF y ordena propiedades por relevancia semantica.</a:t>
            </a:r>
            <a:endParaRPr lang="en-US" sz="1550" dirty="0"/>
          </a:p>
        </p:txBody>
      </p:sp>
      <p:sp>
        <p:nvSpPr>
          <p:cNvPr id="25" name="Shape 21"/>
          <p:cNvSpPr/>
          <p:nvPr/>
        </p:nvSpPr>
        <p:spPr>
          <a:xfrm>
            <a:off x="685800" y="5285232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2303D"/>
          </a:solidFill>
          <a:ln w="12700">
            <a:solidFill>
              <a:srgbClr val="3DD9B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0392" y="5394960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61288" y="5285232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Airbnb.owl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2450592" y="5285232"/>
            <a:ext cx="2080260" cy="457200"/>
          </a:xfrm>
          <a:prstGeom prst="roundRect">
            <a:avLst>
              <a:gd name="adj" fmla="val 20000"/>
            </a:avLst>
          </a:prstGeom>
          <a:solidFill>
            <a:srgbClr val="12303D"/>
          </a:solidFill>
          <a:ln w="12700">
            <a:solidFill>
              <a:srgbClr val="EAF4F2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15184" y="5394960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926080" y="5285232"/>
            <a:ext cx="15133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SPARQL + Fuseki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695444" y="5285232"/>
            <a:ext cx="928116" cy="457200"/>
          </a:xfrm>
          <a:prstGeom prst="roundRect">
            <a:avLst>
              <a:gd name="adj" fmla="val 20000"/>
            </a:avLst>
          </a:prstGeom>
          <a:solidFill>
            <a:srgbClr val="12303D"/>
          </a:solidFill>
          <a:ln w="12700">
            <a:solidFill>
              <a:srgbClr val="FF6B4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036" y="5394960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170932" y="5285232"/>
            <a:ext cx="361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788152" y="5285232"/>
            <a:ext cx="1312164" cy="457200"/>
          </a:xfrm>
          <a:prstGeom prst="roundRect">
            <a:avLst>
              <a:gd name="adj" fmla="val 20000"/>
            </a:avLst>
          </a:prstGeom>
          <a:solidFill>
            <a:srgbClr val="12303D"/>
          </a:solidFill>
          <a:ln w="12700">
            <a:solidFill>
              <a:srgbClr val="F2C14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52744" y="5394960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263640" y="5285232"/>
            <a:ext cx="745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Scoring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38" name="Text 30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buscamos coincidencias sueltas; buscamos relaciones con significado.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40" name="Text 32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NUESTRA ONTOLOGIA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Airbnb.owl modela propiedades como una </a:t>
            </a:r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 semantica</a:t>
            </a:r>
            <a:pPr indent="0" marL="0">
              <a:lnSpc>
                <a:spcPct val="96000"/>
              </a:lnSpc>
              <a:buNone/>
            </a:pP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La clase Propiedad es el nucleo: conecta tipo de alojamiento, zona, amenidades, perfiles y politicas.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25880" y="2560320"/>
            <a:ext cx="2651760" cy="1325880"/>
          </a:xfrm>
          <a:prstGeom prst="line">
            <a:avLst/>
          </a:prstGeom>
          <a:noFill/>
          <a:ln w="17780">
            <a:solidFill>
              <a:srgbClr val="2E5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3977640" y="2514600"/>
            <a:ext cx="2743200" cy="1371600"/>
          </a:xfrm>
          <a:prstGeom prst="line">
            <a:avLst/>
          </a:prstGeom>
          <a:noFill/>
          <a:ln w="17780">
            <a:solidFill>
              <a:srgbClr val="2E5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3886200"/>
            <a:ext cx="3108960" cy="91440"/>
          </a:xfrm>
          <a:prstGeom prst="line">
            <a:avLst/>
          </a:prstGeom>
          <a:noFill/>
          <a:ln w="17780">
            <a:solidFill>
              <a:srgbClr val="2E5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77640" y="3886200"/>
            <a:ext cx="2651760" cy="1463040"/>
          </a:xfrm>
          <a:prstGeom prst="line">
            <a:avLst/>
          </a:prstGeom>
          <a:noFill/>
          <a:ln w="17780">
            <a:solidFill>
              <a:srgbClr val="2E5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240280" y="3886200"/>
            <a:ext cx="1737360" cy="1691640"/>
          </a:xfrm>
          <a:prstGeom prst="line">
            <a:avLst/>
          </a:prstGeom>
          <a:noFill/>
          <a:ln w="17780">
            <a:solidFill>
              <a:srgbClr val="2E5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57170" y="2865730"/>
            <a:ext cx="2040941" cy="2040941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410712" y="3319272"/>
            <a:ext cx="1133856" cy="1133856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37216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51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Propiedad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30220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tiene tipo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340864"/>
            <a:ext cx="1554480" cy="438912"/>
          </a:xfrm>
          <a:prstGeom prst="roundRect">
            <a:avLst>
              <a:gd name="adj" fmla="val 16667"/>
            </a:avLst>
          </a:prstGeom>
          <a:solidFill>
            <a:srgbClr val="12303D"/>
          </a:solidFill>
          <a:ln w="19050">
            <a:solidFill>
              <a:srgbClr val="EAF4F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4944" y="244144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005840" y="234086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09160" y="29992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ubicadaEn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586984" y="2295144"/>
            <a:ext cx="2267712" cy="438912"/>
          </a:xfrm>
          <a:prstGeom prst="roundRect">
            <a:avLst>
              <a:gd name="adj" fmla="val 16667"/>
            </a:avLst>
          </a:prstGeom>
          <a:solidFill>
            <a:srgbClr val="12303D"/>
          </a:solidFill>
          <a:ln w="19050">
            <a:solidFill>
              <a:srgbClr val="3DD9B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33288" y="239572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044184" y="229514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ZonaGeografica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892040" y="3730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tieneAmenidad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281928" y="3758184"/>
            <a:ext cx="1609344" cy="438912"/>
          </a:xfrm>
          <a:prstGeom prst="roundRect">
            <a:avLst>
              <a:gd name="adj" fmla="val 16667"/>
            </a:avLst>
          </a:prstGeom>
          <a:solidFill>
            <a:srgbClr val="12303D"/>
          </a:solidFill>
          <a:ln w="19050">
            <a:solidFill>
              <a:srgbClr val="FF6B4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8232" y="385876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739128" y="375818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Amenidad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4663440" y="44165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compatibleCon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550408" y="5129784"/>
            <a:ext cx="2157984" cy="438912"/>
          </a:xfrm>
          <a:prstGeom prst="roundRect">
            <a:avLst>
              <a:gd name="adj" fmla="val 16667"/>
            </a:avLst>
          </a:prstGeom>
          <a:solidFill>
            <a:srgbClr val="12303D"/>
          </a:solidFill>
          <a:ln w="19050">
            <a:solidFill>
              <a:srgbClr val="F2C14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96712" y="5230368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007608" y="512978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PerfilHuesped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2468880" y="45308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tienePolitica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1435608" y="5358384"/>
            <a:ext cx="1609344" cy="438912"/>
          </a:xfrm>
          <a:prstGeom prst="roundRect">
            <a:avLst>
              <a:gd name="adj" fmla="val 16667"/>
            </a:avLst>
          </a:prstGeom>
          <a:solidFill>
            <a:srgbClr val="12303D"/>
          </a:solidFill>
          <a:ln w="19050">
            <a:solidFill>
              <a:srgbClr val="6FB3D6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1912" y="5458968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892808" y="535838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Politica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8686800" y="2148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TIPOS DE PROPIEDAD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8686800" y="2514600"/>
            <a:ext cx="2834640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3DD9B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833104" y="2615184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125712" y="25146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Apartamento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8686800" y="3081528"/>
            <a:ext cx="2834640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3DD9B0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833104" y="3182112"/>
            <a:ext cx="219456" cy="2194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9125712" y="30815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Casa</a:t>
            </a:r>
            <a:endParaRPr lang="en-US" sz="1100" dirty="0"/>
          </a:p>
        </p:txBody>
      </p:sp>
      <p:sp>
        <p:nvSpPr>
          <p:cNvPr id="42" name="Shape 33"/>
          <p:cNvSpPr/>
          <p:nvPr/>
        </p:nvSpPr>
        <p:spPr>
          <a:xfrm>
            <a:off x="8686800" y="3648456"/>
            <a:ext cx="2834640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3DD9B0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33104" y="3749040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125712" y="364845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Villa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8686800" y="4215384"/>
            <a:ext cx="2834640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3DD9B0"/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833104" y="4315968"/>
            <a:ext cx="219456" cy="2194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9125712" y="421538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Habitacion privada</a:t>
            </a:r>
            <a:endParaRPr lang="en-US" sz="1100" dirty="0"/>
          </a:p>
        </p:txBody>
      </p:sp>
      <p:sp>
        <p:nvSpPr>
          <p:cNvPr id="48" name="Shape 37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9" name="Text 38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casa en Achumani puede tener Wifi, Cocina y Parking, y ser compatible con familias.</a:t>
            </a:r>
            <a:endParaRPr lang="en-US" sz="1300" dirty="0"/>
          </a:p>
        </p:txBody>
      </p:sp>
      <p:sp>
        <p:nvSpPr>
          <p:cNvPr id="50" name="Text 39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51" name="Text 40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DATOS + ENRIQUECIMIENTO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29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base local se conecta con </a:t>
            </a:r>
            <a:pPr indent="0" marL="0">
              <a:lnSpc>
                <a:spcPct val="96000"/>
              </a:lnSpc>
              <a:buNone/>
            </a:pPr>
            <a:r>
              <a:rPr lang="en-US" sz="29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vocabulario externo</a:t>
            </a:r>
            <a:pPr indent="0" marL="0">
              <a:lnSpc>
                <a:spcPct val="96000"/>
              </a:lnSpc>
              <a:buNone/>
            </a:pP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DBpedia no reemplaza nuestros datos: agrega equivalencias para que los conceptos locales tengan contexto reconocido.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514600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514600"/>
            <a:ext cx="64008" cy="1051560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2642616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05256" y="317296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3784" y="2514600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43784" y="2514600"/>
            <a:ext cx="64008" cy="1051560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13" name="Text 11"/>
          <p:cNvSpPr/>
          <p:nvPr/>
        </p:nvSpPr>
        <p:spPr>
          <a:xfrm>
            <a:off x="3044952" y="2642616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063240" y="317296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01768" y="2514600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01768" y="2514600"/>
            <a:ext cx="64008" cy="1051560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17" name="Text 15"/>
          <p:cNvSpPr/>
          <p:nvPr/>
        </p:nvSpPr>
        <p:spPr>
          <a:xfrm>
            <a:off x="5202936" y="2642616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221224" y="317296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alojamientos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3767328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767328"/>
            <a:ext cx="64008" cy="105156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3895344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C1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749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05256" y="44256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rel. amenidades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43784" y="3767328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43784" y="3767328"/>
            <a:ext cx="64008" cy="105156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25" name="Text 23"/>
          <p:cNvSpPr/>
          <p:nvPr/>
        </p:nvSpPr>
        <p:spPr>
          <a:xfrm>
            <a:off x="3044952" y="3895344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C1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063240" y="44256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rel. perfiles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01768" y="3767328"/>
            <a:ext cx="1993392" cy="1051560"/>
          </a:xfrm>
          <a:prstGeom prst="roundRect">
            <a:avLst>
              <a:gd name="adj" fmla="val 608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01768" y="3767328"/>
            <a:ext cx="64008" cy="105156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29" name="Text 27"/>
          <p:cNvSpPr/>
          <p:nvPr/>
        </p:nvSpPr>
        <p:spPr>
          <a:xfrm>
            <a:off x="5202936" y="3895344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C1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173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5221224" y="44256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rel. ubicacion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2331720"/>
            <a:ext cx="4556455" cy="3246120"/>
          </a:xfrm>
          <a:prstGeom prst="roundRect">
            <a:avLst>
              <a:gd name="adj" fmla="val 2254"/>
            </a:avLst>
          </a:prstGeom>
          <a:solidFill>
            <a:srgbClr val="0E2733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FB3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ENLACES SEMANTICOS  →  DBpedia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296912" y="3118104"/>
            <a:ext cx="128016" cy="128016"/>
          </a:xfrm>
          <a:prstGeom prst="ellipse">
            <a:avLst/>
          </a:prstGeom>
          <a:solidFill>
            <a:srgbClr val="0B1F2A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89520" y="303580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Casa</a:t>
            </a:r>
            <a:pPr indent="0" marL="0">
              <a:buNone/>
            </a:pPr>
            <a:r>
              <a:rPr lang="en-US" sz="105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owl:equivalentClass  House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296912" y="3621024"/>
            <a:ext cx="128016" cy="128016"/>
          </a:xfrm>
          <a:prstGeom prst="ellipse">
            <a:avLst/>
          </a:prstGeom>
          <a:solidFill>
            <a:srgbClr val="0B1F2A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0" y="353872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</a:t>
            </a:r>
            <a:pPr indent="0" marL="0">
              <a:buNone/>
            </a:pPr>
            <a:r>
              <a:rPr lang="en-US" sz="105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owl:equivalentClass  Villa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123944"/>
            <a:ext cx="128016" cy="128016"/>
          </a:xfrm>
          <a:prstGeom prst="ellipse">
            <a:avLst/>
          </a:prstGeom>
          <a:solidFill>
            <a:srgbClr val="0B1F2A"/>
          </a:solidFill>
          <a:ln w="22225">
            <a:solidFill>
              <a:srgbClr val="FF6B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89520" y="40416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</a:t>
            </a:r>
            <a:pPr indent="0" marL="0">
              <a:buNone/>
            </a:pPr>
            <a:r>
              <a:rPr lang="en-US" sz="105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owl:sameAs  Wi-Fi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296912" y="4626864"/>
            <a:ext cx="128016" cy="128016"/>
          </a:xfrm>
          <a:prstGeom prst="ellipse">
            <a:avLst/>
          </a:prstGeom>
          <a:solidFill>
            <a:srgbClr val="0B1F2A"/>
          </a:solidFill>
          <a:ln w="22225">
            <a:solidFill>
              <a:srgbClr val="FF6B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89520" y="45445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Piscina</a:t>
            </a:r>
            <a:pPr indent="0" marL="0">
              <a:buNone/>
            </a:pPr>
            <a:r>
              <a:rPr lang="en-US" sz="105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owl:sameAs  Swimming pool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296912" y="5129784"/>
            <a:ext cx="128016" cy="128016"/>
          </a:xfrm>
          <a:prstGeom prst="ellipse">
            <a:avLst/>
          </a:prstGeom>
          <a:solidFill>
            <a:srgbClr val="0B1F2A"/>
          </a:solidFill>
          <a:ln w="22225">
            <a:solidFill>
              <a:srgbClr val="F2C14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89520" y="50474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Paz</a:t>
            </a:r>
            <a:pPr indent="0" marL="0">
              <a:buNone/>
            </a:pPr>
            <a:r>
              <a:rPr lang="en-US" sz="105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owl:sameAs  La Paz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6FB3D6"/>
          </a:solidFill>
          <a:ln/>
        </p:spPr>
      </p:sp>
      <p:sp>
        <p:nvSpPr>
          <p:cNvPr id="44" name="Text 42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DBpedia agrega equivalencias; conecta nuestros conceptos con vocabulario reconocido.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ARQUITECTURA Y MULTILENGUAJE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capa cumple una funcion dentro del flujo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procesamiento de lenguaje natural es un solo bloque: un modelo de lenguaje en linea interpreta la consulta y devuelve filtros.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42316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25420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97864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Aplicacion web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383280" y="2423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React · Tailwind CSS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97180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" y="30906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97864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Ontologia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383280" y="2971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OWL/RDF · Airbnb.owl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85800" y="352044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36393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97864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Servidor semantico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3383280" y="35204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Fuseki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" y="406908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8680" y="41879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97864" y="4069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Consulta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3383280" y="406908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SPARQL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85800" y="461772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8680" y="4736592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97864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151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PLN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3383280" y="46177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0615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 de lenguaje en linea  →  filtros estructurados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685800" y="5166360"/>
            <a:ext cx="7040880" cy="457200"/>
          </a:xfrm>
          <a:prstGeom prst="roundRect">
            <a:avLst>
              <a:gd name="adj" fmla="val 10000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8680" y="5285232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197864" y="5166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Ejecucion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3383280" y="51663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8183880" y="2423160"/>
            <a:ext cx="3322015" cy="3383280"/>
          </a:xfrm>
          <a:prstGeom prst="roundRect">
            <a:avLst>
              <a:gd name="adj" fmla="val 2202"/>
            </a:avLst>
          </a:prstGeom>
          <a:solidFill>
            <a:srgbClr val="0E2733"/>
          </a:solidFill>
          <a:ln w="12700">
            <a:solidFill>
              <a:srgbClr val="1F4654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39912" y="2606040"/>
            <a:ext cx="274320" cy="27432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787384" y="2624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FB3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MULTILENGUAJE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8439912" y="2990088"/>
            <a:ext cx="841248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6FB3D6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8586216" y="299008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/es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9400032" y="2990088"/>
            <a:ext cx="841248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6FB3D6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9546336" y="299008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/en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10360152" y="2990088"/>
            <a:ext cx="841248" cy="420624"/>
          </a:xfrm>
          <a:prstGeom prst="roundRect">
            <a:avLst>
              <a:gd name="adj" fmla="val 15217"/>
            </a:avLst>
          </a:prstGeom>
          <a:solidFill>
            <a:srgbClr val="12303D"/>
          </a:solidFill>
          <a:ln w="15875">
            <a:solidFill>
              <a:srgbClr val="6FB3D6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10506456" y="299008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/fr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8439912" y="3538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Rutas por idioma en la interfaz.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8439912" y="3977640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usuario consulta en lenguaje natural en cualquier idioma.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PLN interpreta la intencion y la convierte en filtros comunes.</a:t>
            </a:r>
            <a:endParaRPr lang="en-US" sz="1200" dirty="0"/>
          </a:p>
        </p:txBody>
      </p:sp>
      <p:sp>
        <p:nvSpPr>
          <p:cNvPr id="42" name="Shape 33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3" name="Text 34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PLN no trae alojamientos; traduce intencion humana a filtros que la API puede usar.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45" name="Text 36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FUENTES DE DATOS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28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base controlada y fuentes federadas con </a:t>
            </a:r>
            <a:pPr indent="0" marL="0">
              <a:lnSpc>
                <a:spcPct val="96000"/>
              </a:lnSpc>
              <a:buNone/>
            </a:pPr>
            <a:r>
              <a:rPr lang="en-US" sz="28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 separados</a:t>
            </a:r>
            <a:pPr indent="0" marL="0">
              <a:lnSpc>
                <a:spcPct val="96000"/>
              </a:lnSpc>
              <a:buNone/>
            </a:pP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Separar fuentes evita confundir almacenamiento local, enriquecimiento y busqueda online.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514600"/>
            <a:ext cx="10820095" cy="749808"/>
          </a:xfrm>
          <a:prstGeom prst="roundRect">
            <a:avLst>
              <a:gd name="adj" fmla="val 853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514600"/>
            <a:ext cx="82296" cy="7498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9" name="Shape 7"/>
          <p:cNvSpPr/>
          <p:nvPr/>
        </p:nvSpPr>
        <p:spPr>
          <a:xfrm>
            <a:off x="923544" y="2670048"/>
            <a:ext cx="438912" cy="438912"/>
          </a:xfrm>
          <a:prstGeom prst="ellipse">
            <a:avLst/>
          </a:prstGeom>
          <a:solidFill>
            <a:srgbClr val="0E2733"/>
          </a:solidFill>
          <a:ln w="15875">
            <a:solidFill>
              <a:srgbClr val="3DD9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7786" y="2774290"/>
            <a:ext cx="230429" cy="23042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27048" y="25146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Airbnb.owl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800600" y="2642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28803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Alojamientos, clases, individuos, relaciones, precios y perfiles.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3429000"/>
            <a:ext cx="10820095" cy="749808"/>
          </a:xfrm>
          <a:prstGeom prst="roundRect">
            <a:avLst>
              <a:gd name="adj" fmla="val 853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3429000"/>
            <a:ext cx="82296" cy="7498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16" name="Shape 13"/>
          <p:cNvSpPr/>
          <p:nvPr/>
        </p:nvSpPr>
        <p:spPr>
          <a:xfrm>
            <a:off x="923544" y="3584448"/>
            <a:ext cx="438912" cy="438912"/>
          </a:xfrm>
          <a:prstGeom prst="ellipse">
            <a:avLst/>
          </a:prstGeom>
          <a:solidFill>
            <a:srgbClr val="0E2733"/>
          </a:solidFill>
          <a:ln w="15875">
            <a:solidFill>
              <a:srgbClr val="FF6B4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7786" y="3688690"/>
            <a:ext cx="230429" cy="23042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27048" y="34290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DBpedia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800600" y="3557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ENRIQUECIMIENTO + ONLINE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800600" y="3794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Equivalencias semanticas y resultados externos en vivo.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85800" y="4343400"/>
            <a:ext cx="10820095" cy="749808"/>
          </a:xfrm>
          <a:prstGeom prst="roundRect">
            <a:avLst>
              <a:gd name="adj" fmla="val 853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4343400"/>
            <a:ext cx="82296" cy="749808"/>
          </a:xfrm>
          <a:prstGeom prst="rect">
            <a:avLst/>
          </a:prstGeom>
          <a:solidFill>
            <a:srgbClr val="6FB3D6"/>
          </a:solidFill>
          <a:ln/>
        </p:spPr>
      </p:sp>
      <p:sp>
        <p:nvSpPr>
          <p:cNvPr id="23" name="Shape 19"/>
          <p:cNvSpPr/>
          <p:nvPr/>
        </p:nvSpPr>
        <p:spPr>
          <a:xfrm>
            <a:off x="923544" y="4498848"/>
            <a:ext cx="438912" cy="438912"/>
          </a:xfrm>
          <a:prstGeom prst="ellipse">
            <a:avLst/>
          </a:prstGeom>
          <a:solidFill>
            <a:srgbClr val="0E2733"/>
          </a:solidFill>
          <a:ln w="15875">
            <a:solidFill>
              <a:srgbClr val="6FB3D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7786" y="4603090"/>
            <a:ext cx="230429" cy="230429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527048" y="43434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Wikidata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4800600" y="4471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FB3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800600" y="4709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Entidades de alojamientos y contexto relacionado.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85800" y="5257800"/>
            <a:ext cx="10820095" cy="749808"/>
          </a:xfrm>
          <a:prstGeom prst="roundRect">
            <a:avLst>
              <a:gd name="adj" fmla="val 8537"/>
            </a:avLst>
          </a:prstGeom>
          <a:solidFill>
            <a:srgbClr val="12303D"/>
          </a:solidFill>
          <a:ln w="12700">
            <a:solidFill>
              <a:srgbClr val="1F465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85800" y="5257800"/>
            <a:ext cx="82296" cy="749808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30" name="Shape 25"/>
          <p:cNvSpPr/>
          <p:nvPr/>
        </p:nvSpPr>
        <p:spPr>
          <a:xfrm>
            <a:off x="923544" y="5413248"/>
            <a:ext cx="438912" cy="438912"/>
          </a:xfrm>
          <a:prstGeom prst="ellipse">
            <a:avLst/>
          </a:prstGeom>
          <a:solidFill>
            <a:srgbClr val="0E2733"/>
          </a:solidFill>
          <a:ln w="15875">
            <a:solidFill>
              <a:srgbClr val="F2C14E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7786" y="5517490"/>
            <a:ext cx="230429" cy="230429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527048" y="52578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OpenStreetMap / LinkedGeoData</a:t>
            </a:r>
            <a:endParaRPr lang="en-US" sz="1350" dirty="0"/>
          </a:p>
        </p:txBody>
      </p:sp>
      <p:sp>
        <p:nvSpPr>
          <p:cNvPr id="33" name="Text 27"/>
          <p:cNvSpPr/>
          <p:nvPr/>
        </p:nvSpPr>
        <p:spPr>
          <a:xfrm>
            <a:off x="4800600" y="53858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4800600" y="56235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Hoteles, direcciones, contacto, horarios y amenidades.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6" name="Text 30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Separar fuentes evita confundir almacenamiento local, enriquecimiento y busqueda federada.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FLUJO DE BUSQUEDA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</a:t>
            </a:r>
            <a:pPr indent="0" marL="0">
              <a:lnSpc>
                <a:spcPct val="96000"/>
              </a:lnSpc>
              <a:buNone/>
            </a:pPr>
            <a:r>
              <a:rPr lang="en-US" sz="31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frase natural</a:t>
            </a:r>
            <a:pPr indent="0" marL="0">
              <a:lnSpc>
                <a:spcPct val="96000"/>
              </a:lnSpc>
              <a:buNone/>
            </a:pPr>
            <a:r>
              <a:rPr lang="en-US" sz="31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resultados ordenados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5166360" cy="1097280"/>
          </a:xfrm>
          <a:prstGeom prst="roundRect">
            <a:avLst>
              <a:gd name="adj" fmla="val 5833"/>
            </a:avLst>
          </a:prstGeom>
          <a:solidFill>
            <a:srgbClr val="12303D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3544" y="19293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LENGUAJE HUMANO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23544" y="2167128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"villa para familia en Santa Cruz con piscina"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89320" y="2185416"/>
            <a:ext cx="640080" cy="292608"/>
          </a:xfrm>
          <a:prstGeom prst="rightArrow">
            <a:avLst/>
          </a:prstGeom>
          <a:solidFill>
            <a:srgbClr val="3DD9B0"/>
          </a:solidFill>
          <a:ln/>
        </p:spPr>
      </p:sp>
      <p:sp>
        <p:nvSpPr>
          <p:cNvPr id="10" name="Shape 8"/>
          <p:cNvSpPr/>
          <p:nvPr/>
        </p:nvSpPr>
        <p:spPr>
          <a:xfrm>
            <a:off x="6812280" y="1783080"/>
            <a:ext cx="4693615" cy="1097280"/>
          </a:xfrm>
          <a:prstGeom prst="roundRect">
            <a:avLst>
              <a:gd name="adj" fmla="val 5833"/>
            </a:avLst>
          </a:prstGeom>
          <a:solidFill>
            <a:srgbClr val="0E2733"/>
          </a:solidFill>
          <a:ln w="19050">
            <a:solidFill>
              <a:srgbClr val="3DD9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9293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FILTROS ESTRUCTURADOS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040880" y="216712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=Villa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perfil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=Familia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=Santa Cruz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amenidad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=Piscina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2303D"/>
          </a:solidFill>
          <a:ln w="19050">
            <a:solidFill>
              <a:srgbClr val="6FB3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48156" y="3849624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0664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086585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18" name="Shape 15"/>
          <p:cNvSpPr/>
          <p:nvPr/>
        </p:nvSpPr>
        <p:spPr>
          <a:xfrm>
            <a:off x="2252929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2303D"/>
          </a:solidFill>
          <a:ln w="19050">
            <a:solidFill>
              <a:srgbClr val="EAF4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362657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5285" y="3849624"/>
            <a:ext cx="292608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307793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/api/buscar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653714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23" name="Shape 19"/>
          <p:cNvSpPr/>
          <p:nvPr/>
        </p:nvSpPr>
        <p:spPr>
          <a:xfrm>
            <a:off x="3820058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6B4A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929786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5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82414" y="3849624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874922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151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PLN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220843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28" name="Shape 23"/>
          <p:cNvSpPr/>
          <p:nvPr/>
        </p:nvSpPr>
        <p:spPr>
          <a:xfrm>
            <a:off x="5387188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2303D"/>
          </a:solidFill>
          <a:ln w="19050">
            <a:solidFill>
              <a:srgbClr val="3DD9B0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496916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9544" y="3849624"/>
            <a:ext cx="292608" cy="29260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42052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Filtros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787972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33" name="Shape 27"/>
          <p:cNvSpPr/>
          <p:nvPr/>
        </p:nvSpPr>
        <p:spPr>
          <a:xfrm>
            <a:off x="6954317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2303D"/>
          </a:solidFill>
          <a:ln w="19050">
            <a:solidFill>
              <a:srgbClr val="3DD9B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064045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16673" y="3849624"/>
            <a:ext cx="292608" cy="29260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009181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SPARQL + Fuseki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355101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38" name="Shape 31"/>
          <p:cNvSpPr/>
          <p:nvPr/>
        </p:nvSpPr>
        <p:spPr>
          <a:xfrm>
            <a:off x="8521446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2C14E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631174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5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83802" y="3849624"/>
            <a:ext cx="292608" cy="29260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8576310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151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Scoring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9922231" y="3995928"/>
            <a:ext cx="182880" cy="146304"/>
          </a:xfrm>
          <a:prstGeom prst="rightArrow">
            <a:avLst/>
          </a:prstGeom>
          <a:solidFill>
            <a:srgbClr val="2E5A6B"/>
          </a:solidFill>
          <a:ln/>
        </p:spPr>
      </p:sp>
      <p:sp>
        <p:nvSpPr>
          <p:cNvPr id="43" name="Shape 35"/>
          <p:cNvSpPr/>
          <p:nvPr/>
        </p:nvSpPr>
        <p:spPr>
          <a:xfrm>
            <a:off x="10088575" y="36118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2303D"/>
          </a:solidFill>
          <a:ln w="19050">
            <a:solidFill>
              <a:srgbClr val="6FB3D6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10198303" y="3685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50931" y="3849624"/>
            <a:ext cx="292608" cy="29260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0143439" y="417880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Cards</a:t>
            </a:r>
            <a:endParaRPr lang="en-US" sz="1000" dirty="0"/>
          </a:p>
        </p:txBody>
      </p:sp>
      <p:sp>
        <p:nvSpPr>
          <p:cNvPr id="47" name="Shape 38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48" name="Text 39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Primero se extrae intencion; luego se consulta la ontologia; al final el scoring ordena.</a:t>
            </a:r>
            <a:endParaRPr lang="en-US" sz="1300" dirty="0"/>
          </a:p>
        </p:txBody>
      </p:sp>
      <p:sp>
        <p:nvSpPr>
          <p:cNvPr id="49" name="Text 40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50" name="Text 41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3" name="Shape 1"/>
          <p:cNvSpPr/>
          <p:nvPr/>
        </p:nvSpPr>
        <p:spPr>
          <a:xfrm>
            <a:off x="7558851" y="0"/>
            <a:ext cx="4632844" cy="64008"/>
          </a:xfrm>
          <a:prstGeom prst="rect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pPr indent="0" marL="0">
              <a:buNone/>
            </a:pPr>
            <a:r>
              <a:rPr lang="en-US" sz="1100" spc="2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 07   </a:t>
            </a:r>
            <a:pPr indent="0" marL="0">
              <a:buNone/>
            </a:pPr>
            <a:r>
              <a:rPr lang="en-US" sz="1100" b="1" spc="200" kern="0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RELEVANCIA Y MODOS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modos, un mismo criterio de </a:t>
            </a:r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relevancia</a:t>
            </a:r>
            <a:pPr indent="0" marL="0">
              <a:lnSpc>
                <a:spcPct val="96000"/>
              </a:lnSpc>
              <a:buNone/>
            </a:pP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orden no sale de palabras sueltas: combina filtros fuertes, perfil, amenidades, zona y texto.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PESOS DE SCORING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2871216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" y="28346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Tipo de propiedad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2898648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11" name="Shape 8"/>
          <p:cNvSpPr/>
          <p:nvPr/>
        </p:nvSpPr>
        <p:spPr>
          <a:xfrm>
            <a:off x="3246120" y="2898648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3DD9B0"/>
          </a:solidFill>
          <a:ln/>
        </p:spPr>
      </p:sp>
      <p:sp>
        <p:nvSpPr>
          <p:cNvPr id="12" name="Text 9"/>
          <p:cNvSpPr/>
          <p:nvPr/>
        </p:nvSpPr>
        <p:spPr>
          <a:xfrm>
            <a:off x="5650992" y="28346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D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327355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96696" y="32369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Zona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46120" y="3300984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16" name="Shape 12"/>
          <p:cNvSpPr/>
          <p:nvPr/>
        </p:nvSpPr>
        <p:spPr>
          <a:xfrm>
            <a:off x="3246120" y="3300984"/>
            <a:ext cx="1700784" cy="164592"/>
          </a:xfrm>
          <a:prstGeom prst="roundRect">
            <a:avLst>
              <a:gd name="adj" fmla="val 16667"/>
            </a:avLst>
          </a:prstGeom>
          <a:solidFill>
            <a:srgbClr val="6FB3D6"/>
          </a:solidFill>
          <a:ln/>
        </p:spPr>
      </p:sp>
      <p:sp>
        <p:nvSpPr>
          <p:cNvPr id="17" name="Text 13"/>
          <p:cNvSpPr/>
          <p:nvPr/>
        </p:nvSpPr>
        <p:spPr>
          <a:xfrm>
            <a:off x="5650992" y="32369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FB3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</a:t>
            </a:r>
            <a:endParaRPr lang="en-US" sz="11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800" y="3675888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96696" y="36393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Amenidad especifica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246120" y="3703320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21" name="Shape 16"/>
          <p:cNvSpPr/>
          <p:nvPr/>
        </p:nvSpPr>
        <p:spPr>
          <a:xfrm>
            <a:off x="3246120" y="3703320"/>
            <a:ext cx="1700784" cy="164592"/>
          </a:xfrm>
          <a:prstGeom prst="roundRect">
            <a:avLst>
              <a:gd name="adj" fmla="val 16667"/>
            </a:avLst>
          </a:prstGeom>
          <a:solidFill>
            <a:srgbClr val="FF6B4A"/>
          </a:solidFill>
          <a:ln/>
        </p:spPr>
      </p:sp>
      <p:sp>
        <p:nvSpPr>
          <p:cNvPr id="22" name="Text 17"/>
          <p:cNvSpPr/>
          <p:nvPr/>
        </p:nvSpPr>
        <p:spPr>
          <a:xfrm>
            <a:off x="5650992" y="36393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</a:t>
            </a:r>
            <a:endParaRPr lang="en-US" sz="11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" y="407822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96696" y="40416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Perfil de huesped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46120" y="4105656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26" name="Shape 20"/>
          <p:cNvSpPr/>
          <p:nvPr/>
        </p:nvSpPr>
        <p:spPr>
          <a:xfrm>
            <a:off x="3246120" y="4105656"/>
            <a:ext cx="1133856" cy="164592"/>
          </a:xfrm>
          <a:prstGeom prst="roundRect">
            <a:avLst>
              <a:gd name="adj" fmla="val 16667"/>
            </a:avLst>
          </a:prstGeom>
          <a:solidFill>
            <a:srgbClr val="F2C14E"/>
          </a:solidFill>
          <a:ln/>
        </p:spPr>
      </p:sp>
      <p:sp>
        <p:nvSpPr>
          <p:cNvPr id="27" name="Text 21"/>
          <p:cNvSpPr/>
          <p:nvPr/>
        </p:nvSpPr>
        <p:spPr>
          <a:xfrm>
            <a:off x="5650992" y="4041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11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5800" y="4480560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96696" y="444398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Buena calificacion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246120" y="4507992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31" name="Shape 24"/>
          <p:cNvSpPr/>
          <p:nvPr/>
        </p:nvSpPr>
        <p:spPr>
          <a:xfrm>
            <a:off x="3246120" y="4507992"/>
            <a:ext cx="1133856" cy="164592"/>
          </a:xfrm>
          <a:prstGeom prst="roundRect">
            <a:avLst>
              <a:gd name="adj" fmla="val 16667"/>
            </a:avLst>
          </a:prstGeom>
          <a:solidFill>
            <a:srgbClr val="EAF4F2"/>
          </a:solidFill>
          <a:ln/>
        </p:spPr>
      </p:sp>
      <p:sp>
        <p:nvSpPr>
          <p:cNvPr id="32" name="Text 25"/>
          <p:cNvSpPr/>
          <p:nvPr/>
        </p:nvSpPr>
        <p:spPr>
          <a:xfrm>
            <a:off x="5650992" y="444398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115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800" y="4882896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96696" y="48463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4F2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Palabra clave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246120" y="4910328"/>
            <a:ext cx="2267712" cy="164592"/>
          </a:xfrm>
          <a:prstGeom prst="roundRect">
            <a:avLst>
              <a:gd name="adj" fmla="val 16667"/>
            </a:avLst>
          </a:prstGeom>
          <a:solidFill>
            <a:srgbClr val="0E2733"/>
          </a:solidFill>
          <a:ln/>
        </p:spPr>
      </p:sp>
      <p:sp>
        <p:nvSpPr>
          <p:cNvPr id="36" name="Shape 28"/>
          <p:cNvSpPr/>
          <p:nvPr/>
        </p:nvSpPr>
        <p:spPr>
          <a:xfrm>
            <a:off x="3246120" y="4910328"/>
            <a:ext cx="566928" cy="164592"/>
          </a:xfrm>
          <a:prstGeom prst="roundRect">
            <a:avLst>
              <a:gd name="adj" fmla="val 16667"/>
            </a:avLst>
          </a:prstGeom>
          <a:solidFill>
            <a:srgbClr val="9DB8B6"/>
          </a:solidFill>
          <a:ln/>
        </p:spPr>
      </p:sp>
      <p:sp>
        <p:nvSpPr>
          <p:cNvPr id="37" name="Text 29"/>
          <p:cNvSpPr/>
          <p:nvPr/>
        </p:nvSpPr>
        <p:spPr>
          <a:xfrm>
            <a:off x="5650992" y="48463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B8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7178040" y="2395728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2303D"/>
          </a:solidFill>
          <a:ln w="19050">
            <a:solidFill>
              <a:srgbClr val="3DD9B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178040" y="2395728"/>
            <a:ext cx="2011680" cy="64008"/>
          </a:xfrm>
          <a:prstGeom prst="rect">
            <a:avLst/>
          </a:prstGeom>
          <a:solidFill>
            <a:srgbClr val="3DD9B0"/>
          </a:solidFill>
          <a:ln/>
        </p:spPr>
      </p:sp>
      <p:sp>
        <p:nvSpPr>
          <p:cNvPr id="40" name="Text 32"/>
          <p:cNvSpPr/>
          <p:nvPr/>
        </p:nvSpPr>
        <p:spPr>
          <a:xfrm>
            <a:off x="7415784" y="2651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</a:t>
            </a:r>
            <a:endParaRPr lang="en-US" sz="2000" dirty="0"/>
          </a:p>
        </p:txBody>
      </p:sp>
      <p:sp>
        <p:nvSpPr>
          <p:cNvPr id="41" name="Text 33"/>
          <p:cNvSpPr/>
          <p:nvPr/>
        </p:nvSpPr>
        <p:spPr>
          <a:xfrm>
            <a:off x="7415784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Control sobre la ontologia propia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7408469" y="3833165"/>
            <a:ext cx="197510" cy="197510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43" name="Shape 35"/>
          <p:cNvSpPr/>
          <p:nvPr/>
        </p:nvSpPr>
        <p:spPr>
          <a:xfrm>
            <a:off x="7452360" y="3877056"/>
            <a:ext cx="109728" cy="109728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7690104" y="3813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Airbnb.owl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7408469" y="4308653"/>
            <a:ext cx="197510" cy="197510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46" name="Shape 38"/>
          <p:cNvSpPr/>
          <p:nvPr/>
        </p:nvSpPr>
        <p:spPr>
          <a:xfrm>
            <a:off x="7452360" y="4352544"/>
            <a:ext cx="109728" cy="109728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47" name="Text 39"/>
          <p:cNvSpPr/>
          <p:nvPr/>
        </p:nvSpPr>
        <p:spPr>
          <a:xfrm>
            <a:off x="7690104" y="4288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Jena Fuseki</a:t>
            </a:r>
            <a:endParaRPr lang="en-US" sz="1100" dirty="0"/>
          </a:p>
        </p:txBody>
      </p:sp>
      <p:sp>
        <p:nvSpPr>
          <p:cNvPr id="48" name="Shape 40"/>
          <p:cNvSpPr/>
          <p:nvPr/>
        </p:nvSpPr>
        <p:spPr>
          <a:xfrm>
            <a:off x="7408469" y="4784141"/>
            <a:ext cx="197510" cy="197510"/>
          </a:xfrm>
          <a:prstGeom prst="ellipse">
            <a:avLst/>
          </a:prstGeom>
          <a:solidFill>
            <a:srgbClr val="3DD9B0">
              <a:alpha val="18000"/>
            </a:srgbClr>
          </a:solidFill>
          <a:ln/>
        </p:spPr>
      </p:sp>
      <p:sp>
        <p:nvSpPr>
          <p:cNvPr id="49" name="Shape 41"/>
          <p:cNvSpPr/>
          <p:nvPr/>
        </p:nvSpPr>
        <p:spPr>
          <a:xfrm>
            <a:off x="7452360" y="4828032"/>
            <a:ext cx="109728" cy="109728"/>
          </a:xfrm>
          <a:prstGeom prst="ellipse">
            <a:avLst/>
          </a:prstGeom>
          <a:solidFill>
            <a:srgbClr val="3DD9B0"/>
          </a:solidFill>
          <a:ln w="22225">
            <a:solidFill>
              <a:srgbClr val="3DD9B0"/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7690104" y="47640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SPARQL</a:t>
            </a:r>
            <a:endParaRPr lang="en-US" sz="1100" dirty="0"/>
          </a:p>
        </p:txBody>
      </p:sp>
      <p:sp>
        <p:nvSpPr>
          <p:cNvPr id="51" name="Shape 43"/>
          <p:cNvSpPr/>
          <p:nvPr/>
        </p:nvSpPr>
        <p:spPr>
          <a:xfrm>
            <a:off x="9464040" y="2395728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2303D"/>
          </a:solidFill>
          <a:ln w="19050">
            <a:solidFill>
              <a:srgbClr val="6FB3D6"/>
            </a:solidFill>
            <a:prstDash val="solid"/>
          </a:ln>
        </p:spPr>
      </p:sp>
      <p:sp>
        <p:nvSpPr>
          <p:cNvPr id="52" name="Shape 44"/>
          <p:cNvSpPr/>
          <p:nvPr/>
        </p:nvSpPr>
        <p:spPr>
          <a:xfrm>
            <a:off x="9464040" y="2395728"/>
            <a:ext cx="2011680" cy="64008"/>
          </a:xfrm>
          <a:prstGeom prst="rect">
            <a:avLst/>
          </a:prstGeom>
          <a:solidFill>
            <a:srgbClr val="6FB3D6"/>
          </a:solidFill>
          <a:ln/>
        </p:spPr>
      </p:sp>
      <p:sp>
        <p:nvSpPr>
          <p:cNvPr id="53" name="Text 45"/>
          <p:cNvSpPr/>
          <p:nvPr/>
        </p:nvSpPr>
        <p:spPr>
          <a:xfrm>
            <a:off x="9701784" y="2651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FB3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ONLINE</a:t>
            </a:r>
            <a:endParaRPr lang="en-US" sz="2000" dirty="0"/>
          </a:p>
        </p:txBody>
      </p:sp>
      <p:sp>
        <p:nvSpPr>
          <p:cNvPr id="54" name="Text 46"/>
          <p:cNvSpPr/>
          <p:nvPr/>
        </p:nvSpPr>
        <p:spPr>
          <a:xfrm>
            <a:off x="9701784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9DB8B6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Amplia el alcance en vivo</a:t>
            </a:r>
            <a:endParaRPr lang="en-US" sz="1050" dirty="0"/>
          </a:p>
        </p:txBody>
      </p:sp>
      <p:sp>
        <p:nvSpPr>
          <p:cNvPr id="55" name="Shape 47"/>
          <p:cNvSpPr/>
          <p:nvPr/>
        </p:nvSpPr>
        <p:spPr>
          <a:xfrm>
            <a:off x="9694469" y="3833165"/>
            <a:ext cx="197510" cy="197510"/>
          </a:xfrm>
          <a:prstGeom prst="ellipse">
            <a:avLst/>
          </a:prstGeom>
          <a:solidFill>
            <a:srgbClr val="6FB3D6">
              <a:alpha val="18000"/>
            </a:srgbClr>
          </a:solidFill>
          <a:ln/>
        </p:spPr>
      </p:sp>
      <p:sp>
        <p:nvSpPr>
          <p:cNvPr id="56" name="Shape 48"/>
          <p:cNvSpPr/>
          <p:nvPr/>
        </p:nvSpPr>
        <p:spPr>
          <a:xfrm>
            <a:off x="9738360" y="3877056"/>
            <a:ext cx="109728" cy="109728"/>
          </a:xfrm>
          <a:prstGeom prst="ellipse">
            <a:avLst/>
          </a:prstGeom>
          <a:solidFill>
            <a:srgbClr val="6FB3D6"/>
          </a:solidFill>
          <a:ln w="22225">
            <a:solidFill>
              <a:srgbClr val="6FB3D6"/>
            </a:solidFill>
            <a:prstDash val="solid"/>
          </a:ln>
        </p:spPr>
      </p:sp>
      <p:sp>
        <p:nvSpPr>
          <p:cNvPr id="57" name="Text 49"/>
          <p:cNvSpPr/>
          <p:nvPr/>
        </p:nvSpPr>
        <p:spPr>
          <a:xfrm>
            <a:off x="9976104" y="3813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DBpedia</a:t>
            </a:r>
            <a:endParaRPr lang="en-US" sz="1100" dirty="0"/>
          </a:p>
        </p:txBody>
      </p:sp>
      <p:sp>
        <p:nvSpPr>
          <p:cNvPr id="58" name="Shape 50"/>
          <p:cNvSpPr/>
          <p:nvPr/>
        </p:nvSpPr>
        <p:spPr>
          <a:xfrm>
            <a:off x="9694469" y="4308653"/>
            <a:ext cx="197510" cy="197510"/>
          </a:xfrm>
          <a:prstGeom prst="ellipse">
            <a:avLst/>
          </a:prstGeom>
          <a:solidFill>
            <a:srgbClr val="6FB3D6">
              <a:alpha val="18000"/>
            </a:srgbClr>
          </a:solidFill>
          <a:ln/>
        </p:spPr>
      </p:sp>
      <p:sp>
        <p:nvSpPr>
          <p:cNvPr id="59" name="Shape 51"/>
          <p:cNvSpPr/>
          <p:nvPr/>
        </p:nvSpPr>
        <p:spPr>
          <a:xfrm>
            <a:off x="9738360" y="4352544"/>
            <a:ext cx="109728" cy="109728"/>
          </a:xfrm>
          <a:prstGeom prst="ellipse">
            <a:avLst/>
          </a:prstGeom>
          <a:solidFill>
            <a:srgbClr val="6FB3D6"/>
          </a:solidFill>
          <a:ln w="22225">
            <a:solidFill>
              <a:srgbClr val="6FB3D6"/>
            </a:solidFill>
            <a:prstDash val="solid"/>
          </a:ln>
        </p:spPr>
      </p:sp>
      <p:sp>
        <p:nvSpPr>
          <p:cNvPr id="60" name="Text 52"/>
          <p:cNvSpPr/>
          <p:nvPr/>
        </p:nvSpPr>
        <p:spPr>
          <a:xfrm>
            <a:off x="9976104" y="4288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Wikidata</a:t>
            </a:r>
            <a:endParaRPr lang="en-US" sz="1100" dirty="0"/>
          </a:p>
        </p:txBody>
      </p:sp>
      <p:sp>
        <p:nvSpPr>
          <p:cNvPr id="61" name="Shape 53"/>
          <p:cNvSpPr/>
          <p:nvPr/>
        </p:nvSpPr>
        <p:spPr>
          <a:xfrm>
            <a:off x="9694469" y="4784141"/>
            <a:ext cx="197510" cy="197510"/>
          </a:xfrm>
          <a:prstGeom prst="ellipse">
            <a:avLst/>
          </a:prstGeom>
          <a:solidFill>
            <a:srgbClr val="6FB3D6">
              <a:alpha val="18000"/>
            </a:srgbClr>
          </a:solidFill>
          <a:ln/>
        </p:spPr>
      </p:sp>
      <p:sp>
        <p:nvSpPr>
          <p:cNvPr id="62" name="Shape 54"/>
          <p:cNvSpPr/>
          <p:nvPr/>
        </p:nvSpPr>
        <p:spPr>
          <a:xfrm>
            <a:off x="9738360" y="4828032"/>
            <a:ext cx="109728" cy="109728"/>
          </a:xfrm>
          <a:prstGeom prst="ellipse">
            <a:avLst/>
          </a:prstGeom>
          <a:solidFill>
            <a:srgbClr val="6FB3D6"/>
          </a:solidFill>
          <a:ln w="22225">
            <a:solidFill>
              <a:srgbClr val="6FB3D6"/>
            </a:solidFill>
            <a:prstDash val="solid"/>
          </a:ln>
        </p:spPr>
      </p:sp>
      <p:sp>
        <p:nvSpPr>
          <p:cNvPr id="63" name="Text 55"/>
          <p:cNvSpPr/>
          <p:nvPr/>
        </p:nvSpPr>
        <p:spPr>
          <a:xfrm>
            <a:off x="9976104" y="47640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AF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OpenStreetMap</a:t>
            </a:r>
            <a:endParaRPr lang="en-US" sz="1100" dirty="0"/>
          </a:p>
        </p:txBody>
      </p:sp>
      <p:sp>
        <p:nvSpPr>
          <p:cNvPr id="64" name="Shape 56"/>
          <p:cNvSpPr/>
          <p:nvPr/>
        </p:nvSpPr>
        <p:spPr>
          <a:xfrm>
            <a:off x="685800" y="5943600"/>
            <a:ext cx="54864" cy="384048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65" name="Text 57"/>
          <p:cNvSpPr/>
          <p:nvPr/>
        </p:nvSpPr>
        <p:spPr>
          <a:xfrm>
            <a:off x="905256" y="59070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i="1" dirty="0">
                <a:solidFill>
                  <a:srgbClr val="EAF4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 da control; online amplia el alcance; el scoring ordena ambos con pesos semanticos.</a:t>
            </a:r>
            <a:endParaRPr lang="en-US" sz="1300" dirty="0"/>
          </a:p>
        </p:txBody>
      </p:sp>
      <p:sp>
        <p:nvSpPr>
          <p:cNvPr id="66" name="Text 58"/>
          <p:cNvSpPr/>
          <p:nvPr/>
        </p:nvSpPr>
        <p:spPr>
          <a:xfrm>
            <a:off x="6858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airbnb·semantic</a:t>
            </a:r>
            <a:endParaRPr lang="en-US" sz="850" dirty="0"/>
          </a:p>
        </p:txBody>
      </p:sp>
      <p:sp>
        <p:nvSpPr>
          <p:cNvPr id="67" name="Text 59"/>
          <p:cNvSpPr/>
          <p:nvPr/>
        </p:nvSpPr>
        <p:spPr>
          <a:xfrm>
            <a:off x="11094415" y="64739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A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Airbnb Semantic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Airbnb Semantic Expo 5min</dc:title>
  <dc:subject>Exposicion de 5 minutos</dc:subject>
  <dc:creator>Airbnb Semantic</dc:creator>
  <cp:lastModifiedBy>Airbnb Semantic</cp:lastModifiedBy>
  <cp:revision>1</cp:revision>
  <dcterms:created xsi:type="dcterms:W3CDTF">2026-06-17T16:50:39Z</dcterms:created>
  <dcterms:modified xsi:type="dcterms:W3CDTF">2026-06-17T16:50:39Z</dcterms:modified>
</cp:coreProperties>
</file>